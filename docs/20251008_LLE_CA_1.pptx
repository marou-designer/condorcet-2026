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5" r:id="rId1"/>
  </p:sldMasterIdLst>
  <p:notesMasterIdLst>
    <p:notesMasterId r:id="rId24"/>
  </p:notesMasterIdLst>
  <p:handoutMasterIdLst>
    <p:handoutMasterId r:id="rId25"/>
  </p:handoutMasterIdLst>
  <p:sldIdLst>
    <p:sldId id="257" r:id="rId2"/>
    <p:sldId id="307" r:id="rId3"/>
    <p:sldId id="333" r:id="rId4"/>
    <p:sldId id="267" r:id="rId5"/>
    <p:sldId id="311" r:id="rId6"/>
    <p:sldId id="331" r:id="rId7"/>
    <p:sldId id="318" r:id="rId8"/>
    <p:sldId id="317" r:id="rId9"/>
    <p:sldId id="310" r:id="rId10"/>
    <p:sldId id="320" r:id="rId11"/>
    <p:sldId id="321" r:id="rId12"/>
    <p:sldId id="334" r:id="rId13"/>
    <p:sldId id="336" r:id="rId14"/>
    <p:sldId id="335" r:id="rId15"/>
    <p:sldId id="322" r:id="rId16"/>
    <p:sldId id="323" r:id="rId17"/>
    <p:sldId id="324" r:id="rId18"/>
    <p:sldId id="332" r:id="rId19"/>
    <p:sldId id="325" r:id="rId20"/>
    <p:sldId id="326" r:id="rId21"/>
    <p:sldId id="327" r:id="rId22"/>
    <p:sldId id="328" r:id="rId23"/>
  </p:sldIdLst>
  <p:sldSz cx="12192000" cy="6858000"/>
  <p:notesSz cx="6858000" cy="9144000"/>
  <p:defaultTextStyle>
    <a:defPPr>
      <a:defRPr lang="en-US"/>
    </a:defPPr>
    <a:lvl1pPr marL="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40">
          <p15:clr>
            <a:srgbClr val="A4A3A4"/>
          </p15:clr>
        </p15:guide>
        <p15:guide id="5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87"/>
    <p:restoredTop sz="94674"/>
  </p:normalViewPr>
  <p:slideViewPr>
    <p:cSldViewPr snapToObjects="1" showGuides="1">
      <p:cViewPr>
        <p:scale>
          <a:sx n="100" d="100"/>
          <a:sy n="100" d="100"/>
        </p:scale>
        <p:origin x="714" y="12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119" d="100"/>
          <a:sy n="119" d="100"/>
        </p:scale>
        <p:origin x="443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01B19-BF63-FD4C-A9EA-0324E94238E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3D334-8DD0-2F4D-97A8-BD329E7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73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B5479-0561-F749-B798-DD28B1CCB08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3233B-0651-8E4A-8608-15F37F012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22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https://dotnet.microsoft.com/en-us/platform/support/policy/dotnet-core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3233B-0651-8E4A-8608-15F37F01283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96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https://dotnet.microsoft.com/en-us/platform/support/policy/dotnet-core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3233B-0651-8E4A-8608-15F37F01283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94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3233B-0651-8E4A-8608-15F37F01283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61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https://insights.stackoverflow.com/survey/2021#most-popular-technologies-language-prof</a:t>
            </a:r>
          </a:p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3233B-0651-8E4A-8608-15F37F01283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44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9D4FC-CE54-3702-7230-4EB2BAC8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7F262-8177-A6B7-BC50-BD9D2E3AF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88DBB-BCE3-CFF5-7CA7-E4CD72E7D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https://insights.stackoverflow.com/survey/2021#most-popular-technologies-language-prof</a:t>
            </a:r>
          </a:p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C092C-98F8-9AE3-A42D-5550CF46D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3233B-0651-8E4A-8608-15F37F01283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19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3C559-6616-959B-11D6-F99F1E58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F9C2A-C99C-BBDE-6BA1-41ABBE4F3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31204-BE10-05F6-066D-AA60595B4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https://insights.stackoverflow.com/survey/2021#most-popular-technologies-language-prof</a:t>
            </a:r>
          </a:p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B8AF7-55AD-F3CB-AB2C-D15C1AF99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3233B-0651-8E4A-8608-15F37F01283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E8706-9F8B-9628-42D1-071B996C0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84EBFA-EF06-1F32-AD15-6A821DFB9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6E217-38CC-A10C-CF75-B3ADE3106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https://insights.stackoverflow.com/survey/2021#most-popular-technologies-language-prof</a:t>
            </a:r>
          </a:p>
          <a:p>
            <a:endParaRPr lang="fr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5D0E2-AA2A-93C8-6375-E24AB600F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3233B-0651-8E4A-8608-15F37F01283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78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5227" y="990970"/>
            <a:ext cx="8741546" cy="642521"/>
          </a:xfrm>
        </p:spPr>
        <p:txBody>
          <a:bodyPr/>
          <a:lstStyle>
            <a:lvl1pPr algn="ctr">
              <a:defRPr sz="2400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V="1">
            <a:off x="5962835" y="724640"/>
            <a:ext cx="266330" cy="26633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 userDrawn="1"/>
        </p:nvGrpSpPr>
        <p:grpSpPr>
          <a:xfrm>
            <a:off x="0" y="1151446"/>
            <a:ext cx="985423" cy="985421"/>
            <a:chOff x="0" y="2148396"/>
            <a:chExt cx="985423" cy="985421"/>
          </a:xfrm>
        </p:grpSpPr>
        <p:cxnSp>
          <p:nvCxnSpPr>
            <p:cNvPr id="10" name="Straight Connector 9"/>
            <p:cNvCxnSpPr/>
            <p:nvPr userDrawn="1"/>
          </p:nvCxnSpPr>
          <p:spPr>
            <a:xfrm flipV="1">
              <a:off x="0" y="2148396"/>
              <a:ext cx="985421" cy="985421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985421" y="2148396"/>
              <a:ext cx="0" cy="575245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flipH="1">
              <a:off x="407988" y="2148396"/>
              <a:ext cx="577435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 userDrawn="1"/>
        </p:nvCxnSpPr>
        <p:spPr>
          <a:xfrm flipV="1">
            <a:off x="10466773" y="4670684"/>
            <a:ext cx="1730117" cy="1730116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22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3043079" y="741363"/>
            <a:ext cx="6105842" cy="402717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5373688" y="1"/>
            <a:ext cx="5700712" cy="6857999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1074400" y="0"/>
            <a:ext cx="1117600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151446"/>
            <a:ext cx="985423" cy="985421"/>
            <a:chOff x="0" y="2148396"/>
            <a:chExt cx="985423" cy="985421"/>
          </a:xfrm>
        </p:grpSpPr>
        <p:cxnSp>
          <p:nvCxnSpPr>
            <p:cNvPr id="7" name="Straight Connector 6"/>
            <p:cNvCxnSpPr/>
            <p:nvPr userDrawn="1"/>
          </p:nvCxnSpPr>
          <p:spPr>
            <a:xfrm flipV="1">
              <a:off x="0" y="2148396"/>
              <a:ext cx="985421" cy="985421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985421" y="2148396"/>
              <a:ext cx="0" cy="575245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flipH="1">
              <a:off x="407988" y="2148396"/>
              <a:ext cx="577435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0" y="1151446"/>
            <a:ext cx="985423" cy="985421"/>
            <a:chOff x="0" y="2148396"/>
            <a:chExt cx="985423" cy="985421"/>
          </a:xfrm>
        </p:grpSpPr>
        <p:cxnSp>
          <p:nvCxnSpPr>
            <p:cNvPr id="10" name="Straight Connector 9"/>
            <p:cNvCxnSpPr/>
            <p:nvPr userDrawn="1"/>
          </p:nvCxnSpPr>
          <p:spPr>
            <a:xfrm flipV="1">
              <a:off x="0" y="2148396"/>
              <a:ext cx="985421" cy="985421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985421" y="2148396"/>
              <a:ext cx="0" cy="575245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flipH="1">
              <a:off x="407988" y="2148396"/>
              <a:ext cx="577435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970842" y="3156333"/>
            <a:ext cx="4529110" cy="3701667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577071" y="3156333"/>
            <a:ext cx="4529110" cy="3701667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0" y="1151446"/>
            <a:ext cx="985423" cy="985421"/>
            <a:chOff x="0" y="2148396"/>
            <a:chExt cx="985423" cy="985421"/>
          </a:xfrm>
        </p:grpSpPr>
        <p:cxnSp>
          <p:nvCxnSpPr>
            <p:cNvPr id="10" name="Straight Connector 9"/>
            <p:cNvCxnSpPr/>
            <p:nvPr userDrawn="1"/>
          </p:nvCxnSpPr>
          <p:spPr>
            <a:xfrm flipV="1">
              <a:off x="0" y="2148396"/>
              <a:ext cx="985421" cy="985421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985421" y="2148396"/>
              <a:ext cx="0" cy="575245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flipH="1">
              <a:off x="407988" y="2148396"/>
              <a:ext cx="577435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-1" y="4120308"/>
            <a:ext cx="3007605" cy="273769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062689" y="4120308"/>
            <a:ext cx="3007605" cy="273769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125379" y="4120308"/>
            <a:ext cx="3007605" cy="273769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9188068" y="4120308"/>
            <a:ext cx="3007605" cy="273769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55800" y="1257300"/>
            <a:ext cx="8521700" cy="1028700"/>
          </a:xfrm>
          <a:prstGeom prst="rect">
            <a:avLst/>
          </a:prstGeom>
          <a:effectLst/>
        </p:spPr>
        <p:txBody>
          <a:bodyPr vert="horz" lIns="0" tIns="192024" rIns="0" bIns="0" rtlCol="0" anchor="t" anchorCtr="0">
            <a:noAutofit/>
          </a:bodyPr>
          <a:lstStyle/>
          <a:p>
            <a:r>
              <a:rPr lang="en-US" dirty="0"/>
              <a:t>Your title here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955800" y="2514600"/>
            <a:ext cx="8521700" cy="3086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Write here subtitle</a:t>
            </a:r>
          </a:p>
          <a:p>
            <a:pPr lvl="1"/>
            <a:r>
              <a:rPr lang="en-US" dirty="0"/>
              <a:t>Write here subtitle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Write here text</a:t>
            </a:r>
          </a:p>
          <a:p>
            <a:pPr lvl="3"/>
            <a:r>
              <a:rPr lang="en-US" dirty="0"/>
              <a:t>Write here text</a:t>
            </a:r>
          </a:p>
          <a:p>
            <a:pPr lvl="4"/>
            <a:r>
              <a:rPr lang="en-US" dirty="0"/>
              <a:t>Write here text </a:t>
            </a:r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1560052" y="6354830"/>
            <a:ext cx="513735" cy="227164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ctr">
              <a:defRPr sz="1000" b="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407988" y="6318017"/>
            <a:ext cx="1104470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>
                <a:solidFill>
                  <a:schemeClr val="tx1">
                    <a:alpha val="40000"/>
                  </a:schemeClr>
                </a:solidFill>
                <a:latin typeface="+mn-lt"/>
              </a:rPr>
              <a:t>www.yoursite.com</a:t>
            </a:r>
            <a:endParaRPr lang="en-US" sz="1000" dirty="0">
              <a:solidFill>
                <a:schemeClr val="tx1">
                  <a:alpha val="40000"/>
                </a:schemeClr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88" y="378479"/>
            <a:ext cx="519373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000" spc="300">
                <a:solidFill>
                  <a:schemeClr val="tx1"/>
                </a:solidFill>
                <a:latin typeface="+mj-lt"/>
              </a:rPr>
              <a:t>KULA</a:t>
            </a:r>
            <a:endParaRPr lang="en-US" sz="1000" spc="3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36" r:id="rId2"/>
    <p:sldLayoutId id="2147484008" r:id="rId3"/>
    <p:sldLayoutId id="2147484013" r:id="rId4"/>
    <p:sldLayoutId id="2147484020" r:id="rId5"/>
    <p:sldLayoutId id="2147484027" r:id="rId6"/>
  </p:sldLayoutIdLst>
  <p:hf hdr="0" ftr="0" dt="0"/>
  <p:txStyles>
    <p:titleStyle>
      <a:lvl1pPr algn="l" defTabSz="914318" rtl="0" eaLnBrk="1" latinLnBrk="0" hangingPunct="1">
        <a:lnSpc>
          <a:spcPct val="80000"/>
        </a:lnSpc>
        <a:spcBef>
          <a:spcPct val="0"/>
        </a:spcBef>
        <a:buNone/>
        <a:defRPr sz="4400" b="1" i="0" kern="1200" spc="-151" baseline="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0" indent="0" algn="l" defTabSz="914318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318" rtl="0" eaLnBrk="1" latinLnBrk="0" hangingPunct="1">
        <a:lnSpc>
          <a:spcPct val="150000"/>
        </a:lnSpc>
        <a:spcBef>
          <a:spcPts val="499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18" rtl="0" eaLnBrk="1" latinLnBrk="0" hangingPunct="1">
        <a:lnSpc>
          <a:spcPct val="150000"/>
        </a:lnSpc>
        <a:spcBef>
          <a:spcPts val="499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18" rtl="0" eaLnBrk="1" latinLnBrk="0" hangingPunct="1">
        <a:lnSpc>
          <a:spcPct val="150000"/>
        </a:lnSpc>
        <a:spcBef>
          <a:spcPts val="499"/>
        </a:spcBef>
        <a:buFont typeface="Arial" panose="020B0604020202020204" pitchFamily="34" charset="0"/>
        <a:buNone/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0" indent="0" algn="l" defTabSz="914318" rtl="0" eaLnBrk="1" latinLnBrk="0" hangingPunct="1">
        <a:lnSpc>
          <a:spcPct val="150000"/>
        </a:lnSpc>
        <a:spcBef>
          <a:spcPts val="499"/>
        </a:spcBef>
        <a:buFont typeface="Arial" panose="020B0604020202020204" pitchFamily="34" charset="0"/>
        <a:buNone/>
        <a:defRPr sz="1000" kern="1200" baseline="0">
          <a:solidFill>
            <a:schemeClr val="tx1">
              <a:alpha val="50000"/>
            </a:schemeClr>
          </a:solidFill>
          <a:latin typeface="+mn-lt"/>
          <a:ea typeface="+mn-ea"/>
          <a:cs typeface="+mn-cs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F26B43"/>
          </p15:clr>
        </p15:guide>
        <p15:guide id="1" orient="horz" pos="2160">
          <p15:clr>
            <a:srgbClr val="F26B43"/>
          </p15:clr>
        </p15:guide>
        <p15:guide id="14" orient="horz" pos="288">
          <p15:clr>
            <a:srgbClr val="F26B43"/>
          </p15:clr>
        </p15:guide>
        <p15:guide id="27" orient="horz" pos="4032">
          <p15:clr>
            <a:srgbClr val="F26B43"/>
          </p15:clr>
        </p15:guide>
        <p15:guide id="39" pos="3385">
          <p15:clr>
            <a:srgbClr val="F26B43"/>
          </p15:clr>
        </p15:guide>
        <p15:guide id="40" pos="4272">
          <p15:clr>
            <a:srgbClr val="F26B43"/>
          </p15:clr>
        </p15:guide>
        <p15:guide id="48" pos="1232" userDrawn="1">
          <p15:clr>
            <a:srgbClr val="F26B43"/>
          </p15:clr>
        </p15:guide>
        <p15:guide id="49" pos="6600">
          <p15:clr>
            <a:srgbClr val="F26B43"/>
          </p15:clr>
        </p15:guide>
        <p15:guide id="50" orient="horz" pos="3528">
          <p15:clr>
            <a:srgbClr val="F26B43"/>
          </p15:clr>
        </p15:guide>
        <p15:guide id="51" orient="horz" pos="731" userDrawn="1">
          <p15:clr>
            <a:srgbClr val="F26B43"/>
          </p15:clr>
        </p15:guide>
        <p15:guide id="52" pos="25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 flipH="1" flipV="1">
            <a:off x="3405352" y="457200"/>
            <a:ext cx="5647867" cy="5647865"/>
            <a:chOff x="-4662444" y="2148396"/>
            <a:chExt cx="5647867" cy="5647865"/>
          </a:xfrm>
        </p:grpSpPr>
        <p:cxnSp>
          <p:nvCxnSpPr>
            <p:cNvPr id="10" name="Straight Connector 9"/>
            <p:cNvCxnSpPr/>
            <p:nvPr userDrawn="1"/>
          </p:nvCxnSpPr>
          <p:spPr>
            <a:xfrm flipV="1">
              <a:off x="-4662444" y="2148396"/>
              <a:ext cx="5647864" cy="5647865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985421" y="2148396"/>
              <a:ext cx="0" cy="575245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 flipH="1">
              <a:off x="407988" y="2148396"/>
              <a:ext cx="577435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55800" y="2493814"/>
            <a:ext cx="4879541" cy="101566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6000" spc="300" dirty="0" err="1">
                <a:solidFill>
                  <a:schemeClr val="accent1"/>
                </a:solidFill>
                <a:latin typeface="Playfair Display" charset="0"/>
                <a:ea typeface="Playfair Display" charset="0"/>
                <a:cs typeface="Playfair Display" charset="0"/>
              </a:rPr>
              <a:t>Complément</a:t>
            </a:r>
            <a:endParaRPr lang="en-US" sz="6000" spc="300" dirty="0">
              <a:solidFill>
                <a:schemeClr val="accent1"/>
              </a:solidFill>
              <a:latin typeface="Playfair Display" charset="0"/>
              <a:ea typeface="Playfair Display" charset="0"/>
              <a:cs typeface="Playfair Display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11868" y="3286318"/>
            <a:ext cx="2534348" cy="5847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3200" spc="300" dirty="0">
                <a:latin typeface="Playfair Display" charset="0"/>
                <a:ea typeface="Playfair Display" charset="0"/>
                <a:cs typeface="Playfair Display" charset="0"/>
              </a:rPr>
              <a:t>Application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955800" y="3429000"/>
            <a:ext cx="606972" cy="606972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8295719" y="3441079"/>
            <a:ext cx="374765" cy="37476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70484" y="3589838"/>
            <a:ext cx="2383281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400" b="1" dirty="0">
                <a:latin typeface="Open Sans" charset="0"/>
                <a:ea typeface="Open Sans" charset="0"/>
                <a:cs typeface="Open Sans" charset="0"/>
              </a:rPr>
              <a:t>HEPH Condorcet 2025-2026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036" y="4014952"/>
            <a:ext cx="2720852" cy="47551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08/10/2025</a:t>
            </a:r>
          </a:p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Ludwig Lebrun</a:t>
            </a:r>
          </a:p>
        </p:txBody>
      </p:sp>
    </p:spTree>
    <p:extLst>
      <p:ext uri="{BB962C8B-B14F-4D97-AF65-F5344CB8AC3E}">
        <p14:creationId xmlns:p14="http://schemas.microsoft.com/office/powerpoint/2010/main" val="152052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1794799"/>
            <a:ext cx="4387722" cy="4387721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956675" y="2608127"/>
            <a:ext cx="1617717" cy="16177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788168" y="2441121"/>
            <a:ext cx="1954730" cy="1954737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55800" y="1162765"/>
            <a:ext cx="3637214" cy="83099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4800" b="1" dirty="0" err="1">
                <a:solidFill>
                  <a:schemeClr val="accent1"/>
                </a:solidFill>
                <a:latin typeface="Playfair Display" charset="0"/>
                <a:ea typeface="Playfair Display" charset="0"/>
                <a:cs typeface="Playfair Display" charset="0"/>
              </a:rPr>
              <a:t>Présentation</a:t>
            </a:r>
            <a:endParaRPr lang="en-US" sz="4800" b="1" dirty="0">
              <a:solidFill>
                <a:schemeClr val="accent1"/>
              </a:solidFill>
              <a:latin typeface="Playfair Display" charset="0"/>
              <a:ea typeface="Playfair Display" charset="0"/>
              <a:cs typeface="Playfair Display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19664" y="1934081"/>
            <a:ext cx="2115964" cy="38779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dirty="0">
                <a:latin typeface="Playfair Display" charset="0"/>
                <a:ea typeface="Playfair Display" charset="0"/>
                <a:cs typeface="Playfair Display" charset="0"/>
              </a:rPr>
              <a:t>Ludwig Lebrun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1405" y="3260438"/>
            <a:ext cx="1835439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400" b="1" dirty="0">
                <a:latin typeface="Open Sans" charset="0"/>
                <a:ea typeface="Open Sans" charset="0"/>
                <a:cs typeface="Open Sans" charset="0"/>
              </a:rPr>
              <a:t>Delivery Manager @ 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9240067" y="4887310"/>
            <a:ext cx="1970690" cy="1970691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2115"/>
          <p:cNvSpPr>
            <a:spLocks noEditPoints="1"/>
          </p:cNvSpPr>
          <p:nvPr/>
        </p:nvSpPr>
        <p:spPr bwMode="auto">
          <a:xfrm>
            <a:off x="2558695" y="3153568"/>
            <a:ext cx="420688" cy="550863"/>
          </a:xfrm>
          <a:custGeom>
            <a:avLst/>
            <a:gdLst>
              <a:gd name="T0" fmla="*/ 73 w 123"/>
              <a:gd name="T1" fmla="*/ 80 h 160"/>
              <a:gd name="T2" fmla="*/ 123 w 123"/>
              <a:gd name="T3" fmla="*/ 8 h 160"/>
              <a:gd name="T4" fmla="*/ 8 w 123"/>
              <a:gd name="T5" fmla="*/ 16 h 160"/>
              <a:gd name="T6" fmla="*/ 21 w 123"/>
              <a:gd name="T7" fmla="*/ 128 h 160"/>
              <a:gd name="T8" fmla="*/ 8 w 123"/>
              <a:gd name="T9" fmla="*/ 160 h 160"/>
              <a:gd name="T10" fmla="*/ 8 w 123"/>
              <a:gd name="T11" fmla="*/ 11 h 160"/>
              <a:gd name="T12" fmla="*/ 117 w 123"/>
              <a:gd name="T13" fmla="*/ 8 h 160"/>
              <a:gd name="T14" fmla="*/ 8 w 123"/>
              <a:gd name="T15" fmla="*/ 11 h 160"/>
              <a:gd name="T16" fmla="*/ 96 w 123"/>
              <a:gd name="T17" fmla="*/ 32 h 160"/>
              <a:gd name="T18" fmla="*/ 27 w 123"/>
              <a:gd name="T19" fmla="*/ 128 h 160"/>
              <a:gd name="T20" fmla="*/ 96 w 123"/>
              <a:gd name="T21" fmla="*/ 144 h 160"/>
              <a:gd name="T22" fmla="*/ 83 w 123"/>
              <a:gd name="T23" fmla="*/ 141 h 160"/>
              <a:gd name="T24" fmla="*/ 69 w 123"/>
              <a:gd name="T25" fmla="*/ 144 h 160"/>
              <a:gd name="T26" fmla="*/ 53 w 123"/>
              <a:gd name="T27" fmla="*/ 144 h 160"/>
              <a:gd name="T28" fmla="*/ 40 w 123"/>
              <a:gd name="T29" fmla="*/ 141 h 160"/>
              <a:gd name="T30" fmla="*/ 27 w 123"/>
              <a:gd name="T31" fmla="*/ 144 h 160"/>
              <a:gd name="T32" fmla="*/ 5 w 123"/>
              <a:gd name="T33" fmla="*/ 152 h 160"/>
              <a:gd name="T34" fmla="*/ 115 w 123"/>
              <a:gd name="T35" fmla="*/ 149 h 160"/>
              <a:gd name="T36" fmla="*/ 37 w 123"/>
              <a:gd name="T37" fmla="*/ 139 h 160"/>
              <a:gd name="T38" fmla="*/ 45 w 123"/>
              <a:gd name="T39" fmla="*/ 136 h 160"/>
              <a:gd name="T40" fmla="*/ 45 w 123"/>
              <a:gd name="T41" fmla="*/ 136 h 160"/>
              <a:gd name="T42" fmla="*/ 53 w 123"/>
              <a:gd name="T43" fmla="*/ 139 h 160"/>
              <a:gd name="T44" fmla="*/ 67 w 123"/>
              <a:gd name="T45" fmla="*/ 141 h 160"/>
              <a:gd name="T46" fmla="*/ 80 w 123"/>
              <a:gd name="T47" fmla="*/ 139 h 160"/>
              <a:gd name="T48" fmla="*/ 88 w 123"/>
              <a:gd name="T49" fmla="*/ 136 h 160"/>
              <a:gd name="T50" fmla="*/ 88 w 123"/>
              <a:gd name="T51" fmla="*/ 136 h 160"/>
              <a:gd name="T52" fmla="*/ 37 w 123"/>
              <a:gd name="T53" fmla="*/ 133 h 160"/>
              <a:gd name="T54" fmla="*/ 51 w 123"/>
              <a:gd name="T55" fmla="*/ 136 h 160"/>
              <a:gd name="T56" fmla="*/ 64 w 123"/>
              <a:gd name="T57" fmla="*/ 88 h 160"/>
              <a:gd name="T58" fmla="*/ 45 w 123"/>
              <a:gd name="T59" fmla="*/ 56 h 160"/>
              <a:gd name="T60" fmla="*/ 45 w 123"/>
              <a:gd name="T61" fmla="*/ 56 h 160"/>
              <a:gd name="T62" fmla="*/ 53 w 123"/>
              <a:gd name="T63" fmla="*/ 59 h 160"/>
              <a:gd name="T64" fmla="*/ 67 w 123"/>
              <a:gd name="T65" fmla="*/ 61 h 160"/>
              <a:gd name="T66" fmla="*/ 80 w 123"/>
              <a:gd name="T67" fmla="*/ 59 h 160"/>
              <a:gd name="T68" fmla="*/ 72 w 123"/>
              <a:gd name="T69" fmla="*/ 51 h 160"/>
              <a:gd name="T70" fmla="*/ 72 w 123"/>
              <a:gd name="T71" fmla="*/ 51 h 160"/>
              <a:gd name="T72" fmla="*/ 75 w 123"/>
              <a:gd name="T73" fmla="*/ 48 h 160"/>
              <a:gd name="T74" fmla="*/ 51 w 123"/>
              <a:gd name="T75" fmla="*/ 56 h 160"/>
              <a:gd name="T76" fmla="*/ 64 w 123"/>
              <a:gd name="T77" fmla="*/ 53 h 160"/>
              <a:gd name="T78" fmla="*/ 45 w 123"/>
              <a:gd name="T79" fmla="*/ 45 h 160"/>
              <a:gd name="T80" fmla="*/ 45 w 123"/>
              <a:gd name="T81" fmla="*/ 45 h 160"/>
              <a:gd name="T82" fmla="*/ 48 w 123"/>
              <a:gd name="T83" fmla="*/ 64 h 160"/>
              <a:gd name="T84" fmla="*/ 56 w 123"/>
              <a:gd name="T85" fmla="*/ 72 h 160"/>
              <a:gd name="T86" fmla="*/ 69 w 123"/>
              <a:gd name="T87" fmla="*/ 69 h 160"/>
              <a:gd name="T88" fmla="*/ 61 w 123"/>
              <a:gd name="T89" fmla="*/ 61 h 160"/>
              <a:gd name="T90" fmla="*/ 61 w 123"/>
              <a:gd name="T91" fmla="*/ 61 h 160"/>
              <a:gd name="T92" fmla="*/ 69 w 123"/>
              <a:gd name="T93" fmla="*/ 64 h 160"/>
              <a:gd name="T94" fmla="*/ 61 w 123"/>
              <a:gd name="T95" fmla="*/ 99 h 160"/>
              <a:gd name="T96" fmla="*/ 64 w 123"/>
              <a:gd name="T97" fmla="*/ 104 h 160"/>
              <a:gd name="T98" fmla="*/ 61 w 123"/>
              <a:gd name="T99" fmla="*/ 109 h 160"/>
              <a:gd name="T100" fmla="*/ 61 w 123"/>
              <a:gd name="T101" fmla="*/ 109 h 160"/>
              <a:gd name="T102" fmla="*/ 59 w 123"/>
              <a:gd name="T103" fmla="*/ 120 h 160"/>
              <a:gd name="T104" fmla="*/ 61 w 123"/>
              <a:gd name="T105" fmla="*/ 131 h 160"/>
              <a:gd name="T106" fmla="*/ 75 w 123"/>
              <a:gd name="T107" fmla="*/ 133 h 160"/>
              <a:gd name="T108" fmla="*/ 83 w 123"/>
              <a:gd name="T109" fmla="*/ 131 h 160"/>
              <a:gd name="T110" fmla="*/ 83 w 123"/>
              <a:gd name="T111" fmla="*/ 131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23" h="160">
                <a:moveTo>
                  <a:pt x="115" y="144"/>
                </a:moveTo>
                <a:cubicBezTo>
                  <a:pt x="101" y="144"/>
                  <a:pt x="101" y="144"/>
                  <a:pt x="101" y="144"/>
                </a:cubicBezTo>
                <a:cubicBezTo>
                  <a:pt x="101" y="128"/>
                  <a:pt x="101" y="128"/>
                  <a:pt x="101" y="128"/>
                </a:cubicBezTo>
                <a:cubicBezTo>
                  <a:pt x="101" y="108"/>
                  <a:pt x="90" y="89"/>
                  <a:pt x="73" y="80"/>
                </a:cubicBezTo>
                <a:cubicBezTo>
                  <a:pt x="90" y="71"/>
                  <a:pt x="101" y="52"/>
                  <a:pt x="101" y="32"/>
                </a:cubicBezTo>
                <a:cubicBezTo>
                  <a:pt x="101" y="16"/>
                  <a:pt x="101" y="16"/>
                  <a:pt x="101" y="16"/>
                </a:cubicBezTo>
                <a:cubicBezTo>
                  <a:pt x="115" y="16"/>
                  <a:pt x="115" y="16"/>
                  <a:pt x="115" y="16"/>
                </a:cubicBezTo>
                <a:cubicBezTo>
                  <a:pt x="119" y="16"/>
                  <a:pt x="123" y="12"/>
                  <a:pt x="123" y="8"/>
                </a:cubicBezTo>
                <a:cubicBezTo>
                  <a:pt x="123" y="4"/>
                  <a:pt x="119" y="0"/>
                  <a:pt x="115" y="0"/>
                </a:cubicBez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12"/>
                  <a:pt x="4" y="16"/>
                  <a:pt x="8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32"/>
                  <a:pt x="21" y="32"/>
                  <a:pt x="21" y="32"/>
                </a:cubicBezTo>
                <a:cubicBezTo>
                  <a:pt x="21" y="52"/>
                  <a:pt x="32" y="71"/>
                  <a:pt x="50" y="80"/>
                </a:cubicBezTo>
                <a:cubicBezTo>
                  <a:pt x="32" y="89"/>
                  <a:pt x="21" y="108"/>
                  <a:pt x="21" y="128"/>
                </a:cubicBezTo>
                <a:cubicBezTo>
                  <a:pt x="21" y="144"/>
                  <a:pt x="21" y="144"/>
                  <a:pt x="21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4" y="144"/>
                  <a:pt x="0" y="148"/>
                  <a:pt x="0" y="152"/>
                </a:cubicBezTo>
                <a:cubicBezTo>
                  <a:pt x="0" y="156"/>
                  <a:pt x="4" y="160"/>
                  <a:pt x="8" y="160"/>
                </a:cubicBezTo>
                <a:cubicBezTo>
                  <a:pt x="115" y="160"/>
                  <a:pt x="115" y="160"/>
                  <a:pt x="115" y="160"/>
                </a:cubicBezTo>
                <a:cubicBezTo>
                  <a:pt x="119" y="160"/>
                  <a:pt x="123" y="156"/>
                  <a:pt x="123" y="152"/>
                </a:cubicBezTo>
                <a:cubicBezTo>
                  <a:pt x="123" y="148"/>
                  <a:pt x="119" y="144"/>
                  <a:pt x="115" y="144"/>
                </a:cubicBezTo>
                <a:close/>
                <a:moveTo>
                  <a:pt x="8" y="11"/>
                </a:moveTo>
                <a:cubicBezTo>
                  <a:pt x="7" y="11"/>
                  <a:pt x="5" y="9"/>
                  <a:pt x="5" y="8"/>
                </a:cubicBezTo>
                <a:cubicBezTo>
                  <a:pt x="5" y="7"/>
                  <a:pt x="7" y="5"/>
                  <a:pt x="8" y="5"/>
                </a:cubicBezTo>
                <a:cubicBezTo>
                  <a:pt x="115" y="5"/>
                  <a:pt x="115" y="5"/>
                  <a:pt x="115" y="5"/>
                </a:cubicBezTo>
                <a:cubicBezTo>
                  <a:pt x="116" y="5"/>
                  <a:pt x="117" y="7"/>
                  <a:pt x="117" y="8"/>
                </a:cubicBezTo>
                <a:cubicBezTo>
                  <a:pt x="117" y="9"/>
                  <a:pt x="116" y="11"/>
                  <a:pt x="115" y="11"/>
                </a:cubicBezTo>
                <a:cubicBezTo>
                  <a:pt x="101" y="11"/>
                  <a:pt x="101" y="11"/>
                  <a:pt x="101" y="11"/>
                </a:cubicBezTo>
                <a:cubicBezTo>
                  <a:pt x="21" y="11"/>
                  <a:pt x="21" y="11"/>
                  <a:pt x="21" y="11"/>
                </a:cubicBezTo>
                <a:lnTo>
                  <a:pt x="8" y="11"/>
                </a:lnTo>
                <a:close/>
                <a:moveTo>
                  <a:pt x="27" y="32"/>
                </a:moveTo>
                <a:cubicBezTo>
                  <a:pt x="27" y="16"/>
                  <a:pt x="27" y="16"/>
                  <a:pt x="27" y="16"/>
                </a:cubicBezTo>
                <a:cubicBezTo>
                  <a:pt x="96" y="16"/>
                  <a:pt x="96" y="16"/>
                  <a:pt x="96" y="16"/>
                </a:cubicBezTo>
                <a:cubicBezTo>
                  <a:pt x="96" y="32"/>
                  <a:pt x="96" y="32"/>
                  <a:pt x="96" y="32"/>
                </a:cubicBezTo>
                <a:cubicBezTo>
                  <a:pt x="96" y="52"/>
                  <a:pt x="84" y="70"/>
                  <a:pt x="66" y="77"/>
                </a:cubicBezTo>
                <a:cubicBezTo>
                  <a:pt x="57" y="77"/>
                  <a:pt x="57" y="77"/>
                  <a:pt x="57" y="77"/>
                </a:cubicBezTo>
                <a:cubicBezTo>
                  <a:pt x="38" y="70"/>
                  <a:pt x="27" y="52"/>
                  <a:pt x="27" y="32"/>
                </a:cubicBezTo>
                <a:close/>
                <a:moveTo>
                  <a:pt x="27" y="128"/>
                </a:moveTo>
                <a:cubicBezTo>
                  <a:pt x="27" y="108"/>
                  <a:pt x="38" y="90"/>
                  <a:pt x="57" y="83"/>
                </a:cubicBezTo>
                <a:cubicBezTo>
                  <a:pt x="66" y="83"/>
                  <a:pt x="66" y="83"/>
                  <a:pt x="66" y="83"/>
                </a:cubicBezTo>
                <a:cubicBezTo>
                  <a:pt x="84" y="90"/>
                  <a:pt x="96" y="108"/>
                  <a:pt x="96" y="128"/>
                </a:cubicBezTo>
                <a:cubicBezTo>
                  <a:pt x="96" y="144"/>
                  <a:pt x="96" y="144"/>
                  <a:pt x="96" y="144"/>
                </a:cubicBezTo>
                <a:cubicBezTo>
                  <a:pt x="96" y="143"/>
                  <a:pt x="95" y="141"/>
                  <a:pt x="93" y="141"/>
                </a:cubicBezTo>
                <a:cubicBezTo>
                  <a:pt x="92" y="141"/>
                  <a:pt x="91" y="143"/>
                  <a:pt x="91" y="144"/>
                </a:cubicBezTo>
                <a:cubicBezTo>
                  <a:pt x="85" y="144"/>
                  <a:pt x="85" y="144"/>
                  <a:pt x="85" y="144"/>
                </a:cubicBezTo>
                <a:cubicBezTo>
                  <a:pt x="85" y="143"/>
                  <a:pt x="84" y="141"/>
                  <a:pt x="83" y="141"/>
                </a:cubicBezTo>
                <a:cubicBezTo>
                  <a:pt x="81" y="141"/>
                  <a:pt x="80" y="143"/>
                  <a:pt x="80" y="144"/>
                </a:cubicBezTo>
                <a:cubicBezTo>
                  <a:pt x="75" y="144"/>
                  <a:pt x="75" y="144"/>
                  <a:pt x="75" y="144"/>
                </a:cubicBezTo>
                <a:cubicBezTo>
                  <a:pt x="75" y="143"/>
                  <a:pt x="73" y="141"/>
                  <a:pt x="72" y="141"/>
                </a:cubicBezTo>
                <a:cubicBezTo>
                  <a:pt x="71" y="141"/>
                  <a:pt x="69" y="143"/>
                  <a:pt x="69" y="144"/>
                </a:cubicBezTo>
                <a:cubicBezTo>
                  <a:pt x="64" y="144"/>
                  <a:pt x="64" y="144"/>
                  <a:pt x="64" y="144"/>
                </a:cubicBezTo>
                <a:cubicBezTo>
                  <a:pt x="64" y="143"/>
                  <a:pt x="63" y="141"/>
                  <a:pt x="61" y="141"/>
                </a:cubicBezTo>
                <a:cubicBezTo>
                  <a:pt x="60" y="141"/>
                  <a:pt x="59" y="143"/>
                  <a:pt x="59" y="144"/>
                </a:cubicBezTo>
                <a:cubicBezTo>
                  <a:pt x="53" y="144"/>
                  <a:pt x="53" y="144"/>
                  <a:pt x="53" y="144"/>
                </a:cubicBezTo>
                <a:cubicBezTo>
                  <a:pt x="53" y="143"/>
                  <a:pt x="52" y="141"/>
                  <a:pt x="51" y="141"/>
                </a:cubicBezTo>
                <a:cubicBezTo>
                  <a:pt x="49" y="141"/>
                  <a:pt x="48" y="143"/>
                  <a:pt x="48" y="144"/>
                </a:cubicBezTo>
                <a:cubicBezTo>
                  <a:pt x="43" y="144"/>
                  <a:pt x="43" y="144"/>
                  <a:pt x="43" y="144"/>
                </a:cubicBezTo>
                <a:cubicBezTo>
                  <a:pt x="43" y="143"/>
                  <a:pt x="41" y="141"/>
                  <a:pt x="40" y="141"/>
                </a:cubicBezTo>
                <a:cubicBezTo>
                  <a:pt x="39" y="141"/>
                  <a:pt x="37" y="143"/>
                  <a:pt x="37" y="144"/>
                </a:cubicBezTo>
                <a:cubicBezTo>
                  <a:pt x="32" y="144"/>
                  <a:pt x="32" y="144"/>
                  <a:pt x="32" y="144"/>
                </a:cubicBezTo>
                <a:cubicBezTo>
                  <a:pt x="32" y="143"/>
                  <a:pt x="31" y="141"/>
                  <a:pt x="29" y="141"/>
                </a:cubicBezTo>
                <a:cubicBezTo>
                  <a:pt x="28" y="141"/>
                  <a:pt x="27" y="143"/>
                  <a:pt x="27" y="144"/>
                </a:cubicBezTo>
                <a:lnTo>
                  <a:pt x="27" y="128"/>
                </a:lnTo>
                <a:close/>
                <a:moveTo>
                  <a:pt x="115" y="155"/>
                </a:moveTo>
                <a:cubicBezTo>
                  <a:pt x="8" y="155"/>
                  <a:pt x="8" y="155"/>
                  <a:pt x="8" y="155"/>
                </a:cubicBezTo>
                <a:cubicBezTo>
                  <a:pt x="7" y="155"/>
                  <a:pt x="5" y="153"/>
                  <a:pt x="5" y="152"/>
                </a:cubicBezTo>
                <a:cubicBezTo>
                  <a:pt x="5" y="151"/>
                  <a:pt x="7" y="149"/>
                  <a:pt x="8" y="149"/>
                </a:cubicBezTo>
                <a:cubicBezTo>
                  <a:pt x="21" y="149"/>
                  <a:pt x="21" y="149"/>
                  <a:pt x="21" y="149"/>
                </a:cubicBezTo>
                <a:cubicBezTo>
                  <a:pt x="101" y="149"/>
                  <a:pt x="101" y="149"/>
                  <a:pt x="101" y="149"/>
                </a:cubicBezTo>
                <a:cubicBezTo>
                  <a:pt x="115" y="149"/>
                  <a:pt x="115" y="149"/>
                  <a:pt x="115" y="149"/>
                </a:cubicBezTo>
                <a:cubicBezTo>
                  <a:pt x="116" y="149"/>
                  <a:pt x="117" y="151"/>
                  <a:pt x="117" y="152"/>
                </a:cubicBezTo>
                <a:cubicBezTo>
                  <a:pt x="117" y="153"/>
                  <a:pt x="116" y="155"/>
                  <a:pt x="115" y="155"/>
                </a:cubicBezTo>
                <a:close/>
                <a:moveTo>
                  <a:pt x="35" y="136"/>
                </a:moveTo>
                <a:cubicBezTo>
                  <a:pt x="36" y="136"/>
                  <a:pt x="37" y="137"/>
                  <a:pt x="37" y="139"/>
                </a:cubicBezTo>
                <a:cubicBezTo>
                  <a:pt x="37" y="140"/>
                  <a:pt x="36" y="141"/>
                  <a:pt x="35" y="141"/>
                </a:cubicBezTo>
                <a:cubicBezTo>
                  <a:pt x="33" y="141"/>
                  <a:pt x="32" y="140"/>
                  <a:pt x="32" y="139"/>
                </a:cubicBezTo>
                <a:cubicBezTo>
                  <a:pt x="32" y="137"/>
                  <a:pt x="33" y="136"/>
                  <a:pt x="35" y="136"/>
                </a:cubicBezTo>
                <a:close/>
                <a:moveTo>
                  <a:pt x="45" y="136"/>
                </a:moveTo>
                <a:cubicBezTo>
                  <a:pt x="47" y="136"/>
                  <a:pt x="48" y="137"/>
                  <a:pt x="48" y="139"/>
                </a:cubicBezTo>
                <a:cubicBezTo>
                  <a:pt x="48" y="140"/>
                  <a:pt x="47" y="141"/>
                  <a:pt x="45" y="141"/>
                </a:cubicBezTo>
                <a:cubicBezTo>
                  <a:pt x="44" y="141"/>
                  <a:pt x="43" y="140"/>
                  <a:pt x="43" y="139"/>
                </a:cubicBezTo>
                <a:cubicBezTo>
                  <a:pt x="43" y="137"/>
                  <a:pt x="44" y="136"/>
                  <a:pt x="45" y="136"/>
                </a:cubicBezTo>
                <a:close/>
                <a:moveTo>
                  <a:pt x="56" y="136"/>
                </a:moveTo>
                <a:cubicBezTo>
                  <a:pt x="57" y="136"/>
                  <a:pt x="59" y="137"/>
                  <a:pt x="59" y="139"/>
                </a:cubicBezTo>
                <a:cubicBezTo>
                  <a:pt x="59" y="140"/>
                  <a:pt x="57" y="141"/>
                  <a:pt x="56" y="141"/>
                </a:cubicBezTo>
                <a:cubicBezTo>
                  <a:pt x="55" y="141"/>
                  <a:pt x="53" y="140"/>
                  <a:pt x="53" y="139"/>
                </a:cubicBezTo>
                <a:cubicBezTo>
                  <a:pt x="53" y="137"/>
                  <a:pt x="55" y="136"/>
                  <a:pt x="56" y="136"/>
                </a:cubicBezTo>
                <a:close/>
                <a:moveTo>
                  <a:pt x="67" y="136"/>
                </a:moveTo>
                <a:cubicBezTo>
                  <a:pt x="68" y="136"/>
                  <a:pt x="69" y="137"/>
                  <a:pt x="69" y="139"/>
                </a:cubicBezTo>
                <a:cubicBezTo>
                  <a:pt x="69" y="140"/>
                  <a:pt x="68" y="141"/>
                  <a:pt x="67" y="141"/>
                </a:cubicBezTo>
                <a:cubicBezTo>
                  <a:pt x="65" y="141"/>
                  <a:pt x="64" y="140"/>
                  <a:pt x="64" y="139"/>
                </a:cubicBezTo>
                <a:cubicBezTo>
                  <a:pt x="64" y="137"/>
                  <a:pt x="65" y="136"/>
                  <a:pt x="67" y="136"/>
                </a:cubicBezTo>
                <a:close/>
                <a:moveTo>
                  <a:pt x="77" y="136"/>
                </a:moveTo>
                <a:cubicBezTo>
                  <a:pt x="79" y="136"/>
                  <a:pt x="80" y="137"/>
                  <a:pt x="80" y="139"/>
                </a:cubicBezTo>
                <a:cubicBezTo>
                  <a:pt x="80" y="140"/>
                  <a:pt x="79" y="141"/>
                  <a:pt x="77" y="141"/>
                </a:cubicBezTo>
                <a:cubicBezTo>
                  <a:pt x="76" y="141"/>
                  <a:pt x="75" y="140"/>
                  <a:pt x="75" y="139"/>
                </a:cubicBezTo>
                <a:cubicBezTo>
                  <a:pt x="75" y="137"/>
                  <a:pt x="76" y="136"/>
                  <a:pt x="77" y="136"/>
                </a:cubicBezTo>
                <a:close/>
                <a:moveTo>
                  <a:pt x="88" y="136"/>
                </a:moveTo>
                <a:cubicBezTo>
                  <a:pt x="89" y="136"/>
                  <a:pt x="91" y="137"/>
                  <a:pt x="91" y="139"/>
                </a:cubicBezTo>
                <a:cubicBezTo>
                  <a:pt x="91" y="140"/>
                  <a:pt x="89" y="141"/>
                  <a:pt x="88" y="141"/>
                </a:cubicBezTo>
                <a:cubicBezTo>
                  <a:pt x="87" y="141"/>
                  <a:pt x="85" y="140"/>
                  <a:pt x="85" y="139"/>
                </a:cubicBezTo>
                <a:cubicBezTo>
                  <a:pt x="85" y="137"/>
                  <a:pt x="87" y="136"/>
                  <a:pt x="88" y="136"/>
                </a:cubicBezTo>
                <a:close/>
                <a:moveTo>
                  <a:pt x="40" y="131"/>
                </a:moveTo>
                <a:cubicBezTo>
                  <a:pt x="41" y="131"/>
                  <a:pt x="43" y="132"/>
                  <a:pt x="43" y="133"/>
                </a:cubicBezTo>
                <a:cubicBezTo>
                  <a:pt x="43" y="135"/>
                  <a:pt x="41" y="136"/>
                  <a:pt x="40" y="136"/>
                </a:cubicBezTo>
                <a:cubicBezTo>
                  <a:pt x="39" y="136"/>
                  <a:pt x="37" y="135"/>
                  <a:pt x="37" y="133"/>
                </a:cubicBezTo>
                <a:cubicBezTo>
                  <a:pt x="37" y="132"/>
                  <a:pt x="39" y="131"/>
                  <a:pt x="40" y="131"/>
                </a:cubicBezTo>
                <a:close/>
                <a:moveTo>
                  <a:pt x="51" y="131"/>
                </a:moveTo>
                <a:cubicBezTo>
                  <a:pt x="52" y="131"/>
                  <a:pt x="53" y="132"/>
                  <a:pt x="53" y="133"/>
                </a:cubicBezTo>
                <a:cubicBezTo>
                  <a:pt x="53" y="135"/>
                  <a:pt x="52" y="136"/>
                  <a:pt x="51" y="136"/>
                </a:cubicBezTo>
                <a:cubicBezTo>
                  <a:pt x="49" y="136"/>
                  <a:pt x="48" y="135"/>
                  <a:pt x="48" y="133"/>
                </a:cubicBezTo>
                <a:cubicBezTo>
                  <a:pt x="48" y="132"/>
                  <a:pt x="49" y="131"/>
                  <a:pt x="51" y="131"/>
                </a:cubicBezTo>
                <a:close/>
                <a:moveTo>
                  <a:pt x="61" y="85"/>
                </a:moveTo>
                <a:cubicBezTo>
                  <a:pt x="63" y="85"/>
                  <a:pt x="64" y="87"/>
                  <a:pt x="64" y="88"/>
                </a:cubicBezTo>
                <a:cubicBezTo>
                  <a:pt x="64" y="89"/>
                  <a:pt x="63" y="91"/>
                  <a:pt x="61" y="91"/>
                </a:cubicBezTo>
                <a:cubicBezTo>
                  <a:pt x="60" y="91"/>
                  <a:pt x="59" y="89"/>
                  <a:pt x="59" y="88"/>
                </a:cubicBezTo>
                <a:cubicBezTo>
                  <a:pt x="59" y="87"/>
                  <a:pt x="60" y="85"/>
                  <a:pt x="61" y="85"/>
                </a:cubicBezTo>
                <a:close/>
                <a:moveTo>
                  <a:pt x="45" y="56"/>
                </a:moveTo>
                <a:cubicBezTo>
                  <a:pt x="47" y="56"/>
                  <a:pt x="48" y="57"/>
                  <a:pt x="48" y="59"/>
                </a:cubicBezTo>
                <a:cubicBezTo>
                  <a:pt x="48" y="60"/>
                  <a:pt x="47" y="61"/>
                  <a:pt x="45" y="61"/>
                </a:cubicBezTo>
                <a:cubicBezTo>
                  <a:pt x="44" y="61"/>
                  <a:pt x="43" y="60"/>
                  <a:pt x="43" y="59"/>
                </a:cubicBezTo>
                <a:cubicBezTo>
                  <a:pt x="43" y="57"/>
                  <a:pt x="44" y="56"/>
                  <a:pt x="45" y="56"/>
                </a:cubicBezTo>
                <a:close/>
                <a:moveTo>
                  <a:pt x="56" y="56"/>
                </a:moveTo>
                <a:cubicBezTo>
                  <a:pt x="57" y="56"/>
                  <a:pt x="59" y="57"/>
                  <a:pt x="59" y="59"/>
                </a:cubicBezTo>
                <a:cubicBezTo>
                  <a:pt x="59" y="60"/>
                  <a:pt x="57" y="61"/>
                  <a:pt x="56" y="61"/>
                </a:cubicBezTo>
                <a:cubicBezTo>
                  <a:pt x="55" y="61"/>
                  <a:pt x="53" y="60"/>
                  <a:pt x="53" y="59"/>
                </a:cubicBezTo>
                <a:cubicBezTo>
                  <a:pt x="53" y="57"/>
                  <a:pt x="55" y="56"/>
                  <a:pt x="56" y="56"/>
                </a:cubicBezTo>
                <a:close/>
                <a:moveTo>
                  <a:pt x="67" y="56"/>
                </a:moveTo>
                <a:cubicBezTo>
                  <a:pt x="68" y="56"/>
                  <a:pt x="69" y="57"/>
                  <a:pt x="69" y="59"/>
                </a:cubicBezTo>
                <a:cubicBezTo>
                  <a:pt x="69" y="60"/>
                  <a:pt x="68" y="61"/>
                  <a:pt x="67" y="61"/>
                </a:cubicBezTo>
                <a:cubicBezTo>
                  <a:pt x="65" y="61"/>
                  <a:pt x="64" y="60"/>
                  <a:pt x="64" y="59"/>
                </a:cubicBezTo>
                <a:cubicBezTo>
                  <a:pt x="64" y="57"/>
                  <a:pt x="65" y="56"/>
                  <a:pt x="67" y="56"/>
                </a:cubicBezTo>
                <a:close/>
                <a:moveTo>
                  <a:pt x="77" y="56"/>
                </a:moveTo>
                <a:cubicBezTo>
                  <a:pt x="79" y="56"/>
                  <a:pt x="80" y="57"/>
                  <a:pt x="80" y="59"/>
                </a:cubicBezTo>
                <a:cubicBezTo>
                  <a:pt x="80" y="60"/>
                  <a:pt x="79" y="61"/>
                  <a:pt x="77" y="61"/>
                </a:cubicBezTo>
                <a:cubicBezTo>
                  <a:pt x="76" y="61"/>
                  <a:pt x="75" y="60"/>
                  <a:pt x="75" y="59"/>
                </a:cubicBezTo>
                <a:cubicBezTo>
                  <a:pt x="75" y="57"/>
                  <a:pt x="76" y="56"/>
                  <a:pt x="77" y="56"/>
                </a:cubicBezTo>
                <a:close/>
                <a:moveTo>
                  <a:pt x="72" y="51"/>
                </a:moveTo>
                <a:cubicBezTo>
                  <a:pt x="73" y="51"/>
                  <a:pt x="75" y="52"/>
                  <a:pt x="75" y="53"/>
                </a:cubicBezTo>
                <a:cubicBezTo>
                  <a:pt x="75" y="55"/>
                  <a:pt x="73" y="56"/>
                  <a:pt x="72" y="56"/>
                </a:cubicBezTo>
                <a:cubicBezTo>
                  <a:pt x="71" y="56"/>
                  <a:pt x="69" y="55"/>
                  <a:pt x="69" y="53"/>
                </a:cubicBezTo>
                <a:cubicBezTo>
                  <a:pt x="69" y="52"/>
                  <a:pt x="71" y="51"/>
                  <a:pt x="72" y="51"/>
                </a:cubicBezTo>
                <a:close/>
                <a:moveTo>
                  <a:pt x="77" y="45"/>
                </a:moveTo>
                <a:cubicBezTo>
                  <a:pt x="79" y="45"/>
                  <a:pt x="80" y="47"/>
                  <a:pt x="80" y="48"/>
                </a:cubicBezTo>
                <a:cubicBezTo>
                  <a:pt x="80" y="49"/>
                  <a:pt x="79" y="51"/>
                  <a:pt x="77" y="51"/>
                </a:cubicBezTo>
                <a:cubicBezTo>
                  <a:pt x="76" y="51"/>
                  <a:pt x="75" y="49"/>
                  <a:pt x="75" y="48"/>
                </a:cubicBezTo>
                <a:cubicBezTo>
                  <a:pt x="75" y="47"/>
                  <a:pt x="76" y="45"/>
                  <a:pt x="77" y="45"/>
                </a:cubicBezTo>
                <a:close/>
                <a:moveTo>
                  <a:pt x="51" y="51"/>
                </a:moveTo>
                <a:cubicBezTo>
                  <a:pt x="52" y="51"/>
                  <a:pt x="53" y="52"/>
                  <a:pt x="53" y="53"/>
                </a:cubicBezTo>
                <a:cubicBezTo>
                  <a:pt x="53" y="55"/>
                  <a:pt x="52" y="56"/>
                  <a:pt x="51" y="56"/>
                </a:cubicBezTo>
                <a:cubicBezTo>
                  <a:pt x="49" y="56"/>
                  <a:pt x="48" y="55"/>
                  <a:pt x="48" y="53"/>
                </a:cubicBezTo>
                <a:cubicBezTo>
                  <a:pt x="48" y="52"/>
                  <a:pt x="49" y="51"/>
                  <a:pt x="51" y="51"/>
                </a:cubicBezTo>
                <a:close/>
                <a:moveTo>
                  <a:pt x="61" y="51"/>
                </a:moveTo>
                <a:cubicBezTo>
                  <a:pt x="63" y="51"/>
                  <a:pt x="64" y="52"/>
                  <a:pt x="64" y="53"/>
                </a:cubicBezTo>
                <a:cubicBezTo>
                  <a:pt x="64" y="55"/>
                  <a:pt x="63" y="56"/>
                  <a:pt x="61" y="56"/>
                </a:cubicBezTo>
                <a:cubicBezTo>
                  <a:pt x="60" y="56"/>
                  <a:pt x="59" y="55"/>
                  <a:pt x="59" y="53"/>
                </a:cubicBezTo>
                <a:cubicBezTo>
                  <a:pt x="59" y="52"/>
                  <a:pt x="60" y="51"/>
                  <a:pt x="61" y="51"/>
                </a:cubicBezTo>
                <a:close/>
                <a:moveTo>
                  <a:pt x="45" y="45"/>
                </a:moveTo>
                <a:cubicBezTo>
                  <a:pt x="47" y="45"/>
                  <a:pt x="48" y="47"/>
                  <a:pt x="48" y="48"/>
                </a:cubicBezTo>
                <a:cubicBezTo>
                  <a:pt x="48" y="49"/>
                  <a:pt x="47" y="51"/>
                  <a:pt x="45" y="51"/>
                </a:cubicBezTo>
                <a:cubicBezTo>
                  <a:pt x="44" y="51"/>
                  <a:pt x="43" y="49"/>
                  <a:pt x="43" y="48"/>
                </a:cubicBezTo>
                <a:cubicBezTo>
                  <a:pt x="43" y="47"/>
                  <a:pt x="44" y="45"/>
                  <a:pt x="45" y="45"/>
                </a:cubicBezTo>
                <a:close/>
                <a:moveTo>
                  <a:pt x="51" y="61"/>
                </a:moveTo>
                <a:cubicBezTo>
                  <a:pt x="52" y="61"/>
                  <a:pt x="53" y="63"/>
                  <a:pt x="53" y="64"/>
                </a:cubicBezTo>
                <a:cubicBezTo>
                  <a:pt x="53" y="65"/>
                  <a:pt x="52" y="67"/>
                  <a:pt x="51" y="67"/>
                </a:cubicBezTo>
                <a:cubicBezTo>
                  <a:pt x="49" y="67"/>
                  <a:pt x="48" y="65"/>
                  <a:pt x="48" y="64"/>
                </a:cubicBezTo>
                <a:cubicBezTo>
                  <a:pt x="48" y="63"/>
                  <a:pt x="49" y="61"/>
                  <a:pt x="51" y="61"/>
                </a:cubicBezTo>
                <a:close/>
                <a:moveTo>
                  <a:pt x="56" y="67"/>
                </a:moveTo>
                <a:cubicBezTo>
                  <a:pt x="57" y="67"/>
                  <a:pt x="59" y="68"/>
                  <a:pt x="59" y="69"/>
                </a:cubicBezTo>
                <a:cubicBezTo>
                  <a:pt x="59" y="71"/>
                  <a:pt x="57" y="72"/>
                  <a:pt x="56" y="72"/>
                </a:cubicBezTo>
                <a:cubicBezTo>
                  <a:pt x="55" y="72"/>
                  <a:pt x="53" y="71"/>
                  <a:pt x="53" y="69"/>
                </a:cubicBezTo>
                <a:cubicBezTo>
                  <a:pt x="53" y="68"/>
                  <a:pt x="55" y="67"/>
                  <a:pt x="56" y="67"/>
                </a:cubicBezTo>
                <a:close/>
                <a:moveTo>
                  <a:pt x="67" y="67"/>
                </a:moveTo>
                <a:cubicBezTo>
                  <a:pt x="68" y="67"/>
                  <a:pt x="69" y="68"/>
                  <a:pt x="69" y="69"/>
                </a:cubicBezTo>
                <a:cubicBezTo>
                  <a:pt x="69" y="71"/>
                  <a:pt x="68" y="72"/>
                  <a:pt x="67" y="72"/>
                </a:cubicBezTo>
                <a:cubicBezTo>
                  <a:pt x="65" y="72"/>
                  <a:pt x="64" y="71"/>
                  <a:pt x="64" y="69"/>
                </a:cubicBezTo>
                <a:cubicBezTo>
                  <a:pt x="64" y="68"/>
                  <a:pt x="65" y="67"/>
                  <a:pt x="67" y="67"/>
                </a:cubicBezTo>
                <a:close/>
                <a:moveTo>
                  <a:pt x="61" y="61"/>
                </a:moveTo>
                <a:cubicBezTo>
                  <a:pt x="63" y="61"/>
                  <a:pt x="64" y="63"/>
                  <a:pt x="64" y="64"/>
                </a:cubicBezTo>
                <a:cubicBezTo>
                  <a:pt x="64" y="65"/>
                  <a:pt x="63" y="67"/>
                  <a:pt x="61" y="67"/>
                </a:cubicBezTo>
                <a:cubicBezTo>
                  <a:pt x="60" y="67"/>
                  <a:pt x="59" y="65"/>
                  <a:pt x="59" y="64"/>
                </a:cubicBezTo>
                <a:cubicBezTo>
                  <a:pt x="59" y="63"/>
                  <a:pt x="60" y="61"/>
                  <a:pt x="61" y="61"/>
                </a:cubicBezTo>
                <a:close/>
                <a:moveTo>
                  <a:pt x="72" y="61"/>
                </a:moveTo>
                <a:cubicBezTo>
                  <a:pt x="73" y="61"/>
                  <a:pt x="75" y="63"/>
                  <a:pt x="75" y="64"/>
                </a:cubicBezTo>
                <a:cubicBezTo>
                  <a:pt x="75" y="65"/>
                  <a:pt x="73" y="67"/>
                  <a:pt x="72" y="67"/>
                </a:cubicBezTo>
                <a:cubicBezTo>
                  <a:pt x="71" y="67"/>
                  <a:pt x="69" y="65"/>
                  <a:pt x="69" y="64"/>
                </a:cubicBezTo>
                <a:cubicBezTo>
                  <a:pt x="69" y="63"/>
                  <a:pt x="71" y="61"/>
                  <a:pt x="72" y="61"/>
                </a:cubicBezTo>
                <a:close/>
                <a:moveTo>
                  <a:pt x="61" y="93"/>
                </a:moveTo>
                <a:cubicBezTo>
                  <a:pt x="63" y="93"/>
                  <a:pt x="64" y="95"/>
                  <a:pt x="64" y="96"/>
                </a:cubicBezTo>
                <a:cubicBezTo>
                  <a:pt x="64" y="97"/>
                  <a:pt x="63" y="99"/>
                  <a:pt x="61" y="99"/>
                </a:cubicBezTo>
                <a:cubicBezTo>
                  <a:pt x="60" y="99"/>
                  <a:pt x="59" y="97"/>
                  <a:pt x="59" y="96"/>
                </a:cubicBezTo>
                <a:cubicBezTo>
                  <a:pt x="59" y="95"/>
                  <a:pt x="60" y="93"/>
                  <a:pt x="61" y="93"/>
                </a:cubicBezTo>
                <a:close/>
                <a:moveTo>
                  <a:pt x="61" y="101"/>
                </a:moveTo>
                <a:cubicBezTo>
                  <a:pt x="63" y="101"/>
                  <a:pt x="64" y="103"/>
                  <a:pt x="64" y="104"/>
                </a:cubicBezTo>
                <a:cubicBezTo>
                  <a:pt x="64" y="105"/>
                  <a:pt x="63" y="107"/>
                  <a:pt x="61" y="107"/>
                </a:cubicBezTo>
                <a:cubicBezTo>
                  <a:pt x="60" y="107"/>
                  <a:pt x="59" y="105"/>
                  <a:pt x="59" y="104"/>
                </a:cubicBezTo>
                <a:cubicBezTo>
                  <a:pt x="59" y="103"/>
                  <a:pt x="60" y="101"/>
                  <a:pt x="61" y="101"/>
                </a:cubicBezTo>
                <a:close/>
                <a:moveTo>
                  <a:pt x="61" y="109"/>
                </a:moveTo>
                <a:cubicBezTo>
                  <a:pt x="63" y="109"/>
                  <a:pt x="64" y="111"/>
                  <a:pt x="64" y="112"/>
                </a:cubicBezTo>
                <a:cubicBezTo>
                  <a:pt x="64" y="113"/>
                  <a:pt x="63" y="115"/>
                  <a:pt x="61" y="115"/>
                </a:cubicBezTo>
                <a:cubicBezTo>
                  <a:pt x="60" y="115"/>
                  <a:pt x="59" y="113"/>
                  <a:pt x="59" y="112"/>
                </a:cubicBezTo>
                <a:cubicBezTo>
                  <a:pt x="59" y="111"/>
                  <a:pt x="60" y="109"/>
                  <a:pt x="61" y="109"/>
                </a:cubicBezTo>
                <a:close/>
                <a:moveTo>
                  <a:pt x="61" y="117"/>
                </a:moveTo>
                <a:cubicBezTo>
                  <a:pt x="63" y="117"/>
                  <a:pt x="64" y="119"/>
                  <a:pt x="64" y="120"/>
                </a:cubicBezTo>
                <a:cubicBezTo>
                  <a:pt x="64" y="121"/>
                  <a:pt x="63" y="123"/>
                  <a:pt x="61" y="123"/>
                </a:cubicBezTo>
                <a:cubicBezTo>
                  <a:pt x="60" y="123"/>
                  <a:pt x="59" y="121"/>
                  <a:pt x="59" y="120"/>
                </a:cubicBezTo>
                <a:cubicBezTo>
                  <a:pt x="59" y="119"/>
                  <a:pt x="60" y="117"/>
                  <a:pt x="61" y="117"/>
                </a:cubicBezTo>
                <a:close/>
                <a:moveTo>
                  <a:pt x="61" y="125"/>
                </a:moveTo>
                <a:cubicBezTo>
                  <a:pt x="63" y="125"/>
                  <a:pt x="64" y="127"/>
                  <a:pt x="64" y="128"/>
                </a:cubicBezTo>
                <a:cubicBezTo>
                  <a:pt x="64" y="129"/>
                  <a:pt x="63" y="131"/>
                  <a:pt x="61" y="131"/>
                </a:cubicBezTo>
                <a:cubicBezTo>
                  <a:pt x="60" y="131"/>
                  <a:pt x="59" y="129"/>
                  <a:pt x="59" y="128"/>
                </a:cubicBezTo>
                <a:cubicBezTo>
                  <a:pt x="59" y="127"/>
                  <a:pt x="60" y="125"/>
                  <a:pt x="61" y="125"/>
                </a:cubicBezTo>
                <a:close/>
                <a:moveTo>
                  <a:pt x="72" y="131"/>
                </a:moveTo>
                <a:cubicBezTo>
                  <a:pt x="73" y="131"/>
                  <a:pt x="75" y="132"/>
                  <a:pt x="75" y="133"/>
                </a:cubicBezTo>
                <a:cubicBezTo>
                  <a:pt x="75" y="135"/>
                  <a:pt x="73" y="136"/>
                  <a:pt x="72" y="136"/>
                </a:cubicBezTo>
                <a:cubicBezTo>
                  <a:pt x="71" y="136"/>
                  <a:pt x="69" y="135"/>
                  <a:pt x="69" y="133"/>
                </a:cubicBezTo>
                <a:cubicBezTo>
                  <a:pt x="69" y="132"/>
                  <a:pt x="71" y="131"/>
                  <a:pt x="72" y="131"/>
                </a:cubicBezTo>
                <a:close/>
                <a:moveTo>
                  <a:pt x="83" y="131"/>
                </a:moveTo>
                <a:cubicBezTo>
                  <a:pt x="84" y="131"/>
                  <a:pt x="85" y="132"/>
                  <a:pt x="85" y="133"/>
                </a:cubicBezTo>
                <a:cubicBezTo>
                  <a:pt x="85" y="135"/>
                  <a:pt x="84" y="136"/>
                  <a:pt x="83" y="136"/>
                </a:cubicBezTo>
                <a:cubicBezTo>
                  <a:pt x="81" y="136"/>
                  <a:pt x="80" y="135"/>
                  <a:pt x="80" y="133"/>
                </a:cubicBezTo>
                <a:cubicBezTo>
                  <a:pt x="80" y="132"/>
                  <a:pt x="81" y="131"/>
                  <a:pt x="83" y="1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8D12412-E99D-4358-804E-B057054CA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022" y="3294158"/>
            <a:ext cx="1100637" cy="26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8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C61BC8-96BD-3FF5-BB2F-A9CD4C877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Playfair Display" panose="00000500000000000000" pitchFamily="2" charset="0"/>
              </a:rPr>
              <a:t>Tour de table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FDF895-C3C4-C9F6-D314-4F478C3EAD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ZoneTexte 10">
            <a:extLst>
              <a:ext uri="{FF2B5EF4-FFF2-40B4-BE49-F238E27FC236}">
                <a16:creationId xmlns:a16="http://schemas.microsoft.com/office/drawing/2014/main" id="{D4026956-1412-923A-E2B8-9D83C736B17B}"/>
              </a:ext>
            </a:extLst>
          </p:cNvPr>
          <p:cNvSpPr txBox="1"/>
          <p:nvPr/>
        </p:nvSpPr>
        <p:spPr>
          <a:xfrm>
            <a:off x="970137" y="1800225"/>
            <a:ext cx="10601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 dirty="0"/>
              <a:t>Quelles sont vos expériences en développement applicatif (web, mobile, autre..) et en IT en général ?</a:t>
            </a:r>
          </a:p>
        </p:txBody>
      </p:sp>
    </p:spTree>
    <p:extLst>
      <p:ext uri="{BB962C8B-B14F-4D97-AF65-F5344CB8AC3E}">
        <p14:creationId xmlns:p14="http://schemas.microsoft.com/office/powerpoint/2010/main" val="230400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  <a:latin typeface="Playfair Display" panose="00000500000000000000" pitchFamily="2" charset="0"/>
              </a:rPr>
              <a:t>Contenu</a:t>
            </a:r>
            <a:r>
              <a:rPr lang="en-US" dirty="0">
                <a:solidFill>
                  <a:schemeClr val="accent1"/>
                </a:solidFill>
                <a:latin typeface="Playfair Display" panose="00000500000000000000" pitchFamily="2" charset="0"/>
              </a:rPr>
              <a:t> du </a:t>
            </a:r>
            <a:r>
              <a:rPr lang="en-US" dirty="0" err="1">
                <a:solidFill>
                  <a:schemeClr val="accent1"/>
                </a:solidFill>
                <a:latin typeface="Playfair Display" panose="00000500000000000000" pitchFamily="2" charset="0"/>
              </a:rPr>
              <a:t>cours</a:t>
            </a:r>
            <a:endParaRPr lang="en-US" dirty="0">
              <a:solidFill>
                <a:schemeClr val="accent1"/>
              </a:solidFill>
              <a:latin typeface="Playfair Display" panose="00000500000000000000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D20FF45-5FAD-432D-990C-C975218820B9}"/>
              </a:ext>
            </a:extLst>
          </p:cNvPr>
          <p:cNvSpPr txBox="1"/>
          <p:nvPr/>
        </p:nvSpPr>
        <p:spPr>
          <a:xfrm>
            <a:off x="970137" y="1800225"/>
            <a:ext cx="106013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 dirty="0"/>
              <a:t>Programmation orientée objet (C# .NET 8.0 / LTS),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 dirty="0"/>
              <a:t>Utilisation d’un ORM (EF </a:t>
            </a:r>
            <a:r>
              <a:rPr lang="fr-BE" sz="1400" dirty="0" err="1"/>
              <a:t>Core</a:t>
            </a:r>
            <a:r>
              <a:rPr lang="fr-BE" sz="1400" dirty="0"/>
              <a:t>) &amp; micro-ORM (</a:t>
            </a:r>
            <a:r>
              <a:rPr lang="fr-BE" sz="1400" dirty="0" err="1"/>
              <a:t>Dapper</a:t>
            </a:r>
            <a:r>
              <a:rPr lang="fr-BE" sz="1400" dirty="0"/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 dirty="0"/>
              <a:t>Utilisation de LINQ,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 dirty="0"/>
              <a:t>Base de données (T-SQL, SQLite),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 dirty="0"/>
              <a:t>Bonnes pratiques de codage (Clean Code &amp; co),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 dirty="0"/>
              <a:t>3 types d’app. : Console, MVC, REST(</a:t>
            </a:r>
            <a:r>
              <a:rPr lang="fr-BE" sz="1400" dirty="0" err="1"/>
              <a:t>ful</a:t>
            </a:r>
            <a:r>
              <a:rPr lang="fr-BE" sz="1400" dirty="0"/>
              <a:t>) API,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 dirty="0"/>
              <a:t>Tests unitaires &amp; code </a:t>
            </a:r>
            <a:r>
              <a:rPr lang="fr-BE" sz="1400" dirty="0" err="1"/>
              <a:t>coverage</a:t>
            </a:r>
            <a:r>
              <a:rPr lang="fr-BE" sz="1400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 dirty="0"/>
              <a:t>Utilisation de l’IA dans le développement (Claude, </a:t>
            </a:r>
            <a:r>
              <a:rPr lang="fr-BE" sz="1400" dirty="0" err="1"/>
              <a:t>ChatGPT</a:t>
            </a:r>
            <a:r>
              <a:rPr lang="fr-BE" sz="1400" dirty="0"/>
              <a:t>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4185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BBA744-BC0C-86FA-DCD5-0FBDE3233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E3AC5F8-8B49-A0CC-BAB6-C335BB90C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76" y="188640"/>
            <a:ext cx="11809311" cy="602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74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BBA744-BC0C-86FA-DCD5-0FBDE3233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1AAA240-3346-F0BA-71B2-BB081EBF1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8" y="0"/>
            <a:ext cx="7172325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F97AB77-9297-68FB-4A26-C144FBB31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8" y="3095625"/>
            <a:ext cx="7191375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94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22FF90-9BC9-128A-354B-4319D1D57B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5432A0-A5DD-CB2F-913A-E0CA620FC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207" y="0"/>
            <a:ext cx="84515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24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223F0F-DDB3-D0D0-706C-0666E106C5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76A69-3D79-D932-7358-7B8EE169A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6006"/>
            <a:ext cx="12192000" cy="593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04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5227" y="2924944"/>
            <a:ext cx="8741546" cy="642521"/>
          </a:xfrm>
        </p:spPr>
        <p:txBody>
          <a:bodyPr/>
          <a:lstStyle/>
          <a:p>
            <a:r>
              <a:rPr lang="en-US" dirty="0" err="1">
                <a:solidFill>
                  <a:schemeClr val="accent1"/>
                </a:solidFill>
                <a:latin typeface="Playfair Display" panose="00000500000000000000" pitchFamily="2" charset="0"/>
              </a:rPr>
              <a:t>Chapitre</a:t>
            </a:r>
            <a:r>
              <a:rPr lang="en-US" dirty="0">
                <a:solidFill>
                  <a:schemeClr val="accent1"/>
                </a:solidFill>
                <a:latin typeface="Playfair Display" panose="00000500000000000000" pitchFamily="2" charset="0"/>
              </a:rPr>
              <a:t> n°1: </a:t>
            </a:r>
            <a:r>
              <a:rPr lang="en-US" dirty="0" err="1">
                <a:solidFill>
                  <a:schemeClr val="accent1"/>
                </a:solidFill>
                <a:latin typeface="Playfair Display" panose="00000500000000000000" pitchFamily="2" charset="0"/>
              </a:rPr>
              <a:t>programmation</a:t>
            </a:r>
            <a:r>
              <a:rPr lang="en-US" dirty="0">
                <a:solidFill>
                  <a:schemeClr val="accent1"/>
                </a:solidFill>
                <a:latin typeface="Playfair Display" panose="00000500000000000000" pitchFamily="2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Playfair Display" panose="00000500000000000000" pitchFamily="2" charset="0"/>
              </a:rPr>
              <a:t>orientée</a:t>
            </a:r>
            <a:r>
              <a:rPr lang="en-US" dirty="0">
                <a:solidFill>
                  <a:schemeClr val="accent1"/>
                </a:solidFill>
                <a:latin typeface="Playfair Display" panose="00000500000000000000" pitchFamily="2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Playfair Display" panose="00000500000000000000" pitchFamily="2" charset="0"/>
              </a:rPr>
              <a:t>objet</a:t>
            </a:r>
            <a:r>
              <a:rPr lang="en-US" dirty="0">
                <a:solidFill>
                  <a:schemeClr val="accent1"/>
                </a:solidFill>
                <a:latin typeface="Playfair Display" panose="00000500000000000000" pitchFamily="2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081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AEF4AF-B49E-39EB-713D-66A00DEC99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2B6E2-4820-4018-3DE6-2DA9697F5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304925"/>
            <a:ext cx="107442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26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614793-DCF3-F35A-A526-345149C1A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Définition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FCCA1-BA9B-2961-7E0E-B97C53A56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2CE33-EDF3-D0B5-3465-4B82AF7362F6}"/>
              </a:ext>
            </a:extLst>
          </p:cNvPr>
          <p:cNvSpPr txBox="1"/>
          <p:nvPr/>
        </p:nvSpPr>
        <p:spPr>
          <a:xfrm>
            <a:off x="1715682" y="3752165"/>
            <a:ext cx="7755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200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Design Patterns: </a:t>
            </a:r>
            <a:r>
              <a:rPr lang="fr-BE" sz="1200" b="0" i="1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Elements</a:t>
            </a:r>
            <a:r>
              <a:rPr lang="fr-BE" sz="1200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of </a:t>
            </a:r>
            <a:r>
              <a:rPr lang="fr-BE" sz="1200" b="0" i="1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Reusable</a:t>
            </a:r>
            <a:r>
              <a:rPr lang="fr-BE" sz="1200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Object-</a:t>
            </a:r>
            <a:r>
              <a:rPr lang="fr-BE" sz="1200" b="0" i="1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Oriented</a:t>
            </a:r>
            <a:r>
              <a:rPr lang="fr-BE" sz="1200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Software</a:t>
            </a:r>
            <a:r>
              <a:rPr lang="fr-BE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d'Erich Gamma, Richard </a:t>
            </a:r>
            <a:r>
              <a:rPr lang="fr-BE" sz="12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Helm</a:t>
            </a:r>
            <a:r>
              <a:rPr lang="fr-BE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Ralph Johnson et John </a:t>
            </a:r>
            <a:r>
              <a:rPr lang="fr-BE" sz="12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Vlissides</a:t>
            </a:r>
            <a:r>
              <a:rPr lang="fr-BE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(Addison-Wesley Professional, 1994)</a:t>
            </a:r>
            <a:endParaRPr lang="fr-BE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3DF53C-0D99-11A7-DA95-43C952CC24BA}"/>
              </a:ext>
            </a:extLst>
          </p:cNvPr>
          <p:cNvSpPr txBox="1"/>
          <p:nvPr/>
        </p:nvSpPr>
        <p:spPr>
          <a:xfrm>
            <a:off x="1725227" y="2828835"/>
            <a:ext cx="87415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Les programmes orientés objet sont constitués d'objets. Un </a:t>
            </a:r>
            <a:r>
              <a:rPr lang="fr-BE" b="1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objet</a:t>
            </a:r>
            <a:r>
              <a:rPr lang="fr-BE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regroupe des données ainsi que les procédures qui opèrent sur ces données. Ces procédures sont typiquement appelées </a:t>
            </a:r>
            <a:r>
              <a:rPr lang="fr-BE" b="1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méthodes</a:t>
            </a:r>
            <a:r>
              <a:rPr lang="fr-BE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ou </a:t>
            </a:r>
            <a:r>
              <a:rPr lang="fr-BE" b="1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opérations</a:t>
            </a:r>
            <a:r>
              <a:rPr lang="fr-BE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fr-BE" b="1" dirty="0"/>
          </a:p>
        </p:txBody>
      </p:sp>
    </p:spTree>
    <p:extLst>
      <p:ext uri="{BB962C8B-B14F-4D97-AF65-F5344CB8AC3E}">
        <p14:creationId xmlns:p14="http://schemas.microsoft.com/office/powerpoint/2010/main" val="479839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74593-AA5D-35DF-65F9-5735178E2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C823B-F9AB-81A7-9117-94ADBE7FF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6670D9-7266-DBFA-C9A8-C195AA2D6B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903" b="29323"/>
          <a:stretch>
            <a:fillRect/>
          </a:stretch>
        </p:blipFill>
        <p:spPr>
          <a:xfrm>
            <a:off x="1415480" y="1753641"/>
            <a:ext cx="9620130" cy="38250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C3CBA7-AD4C-2CEC-A32E-1D8B4F826C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93" b="88557"/>
          <a:stretch>
            <a:fillRect/>
          </a:stretch>
        </p:blipFill>
        <p:spPr>
          <a:xfrm>
            <a:off x="1127448" y="877019"/>
            <a:ext cx="9620130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984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3BCA9-D43F-9D8A-D5F7-CE8859EBB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CED473-EA44-8746-7535-4E550E889E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117364-EB2A-496A-F364-92E5FC4A6C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903" b="73079"/>
          <a:stretch>
            <a:fillRect/>
          </a:stretch>
        </p:blipFill>
        <p:spPr>
          <a:xfrm>
            <a:off x="1285935" y="176261"/>
            <a:ext cx="9620130" cy="8241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101C3D-F16D-816C-C7F8-0AB9F60FA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496" y="1196752"/>
            <a:ext cx="4083140" cy="1822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D26AC1-AFE7-5ED0-7966-C967765B9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266" y="1097007"/>
            <a:ext cx="4327352" cy="548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38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F5E8-59F2-2D82-9D2F-2FDC3A3F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E3AA70-1E03-946E-AEEA-B7084EB3B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610F0B-963E-C62D-1C32-A9F1B9AEE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289" y="1988840"/>
            <a:ext cx="8567421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77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614793-DCF3-F35A-A526-345149C1A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Concepts de base de la POO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FCCA1-BA9B-2961-7E0E-B97C53A56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5149A7-C14D-711F-5D8A-6A7A7F1B3482}"/>
              </a:ext>
            </a:extLst>
          </p:cNvPr>
          <p:cNvSpPr txBox="1"/>
          <p:nvPr/>
        </p:nvSpPr>
        <p:spPr>
          <a:xfrm>
            <a:off x="1991544" y="2420888"/>
            <a:ext cx="8568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/>
              <a:t>L’encapsulation,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/>
              <a:t>Classe vs objet,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/>
              <a:t>L’héritage,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/>
              <a:t>Le polymorphisme,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/>
              <a:t>L’abstraction</a:t>
            </a:r>
          </a:p>
        </p:txBody>
      </p:sp>
    </p:spTree>
    <p:extLst>
      <p:ext uri="{BB962C8B-B14F-4D97-AF65-F5344CB8AC3E}">
        <p14:creationId xmlns:p14="http://schemas.microsoft.com/office/powerpoint/2010/main" val="2270730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FCCA1-BA9B-2961-7E0E-B97C53A56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17284D-97FE-84BA-7514-917DE5C9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Encapsulation</a:t>
            </a:r>
          </a:p>
        </p:txBody>
      </p:sp>
      <p:pic>
        <p:nvPicPr>
          <p:cNvPr id="3074" name="Picture 2" descr="Encapsulation in OOPs by Logicmojo">
            <a:extLst>
              <a:ext uri="{FF2B5EF4-FFF2-40B4-BE49-F238E27FC236}">
                <a16:creationId xmlns:a16="http://schemas.microsoft.com/office/drawing/2014/main" id="{D8A75439-1D0C-8B9C-5786-539FDA06F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439" y="2132856"/>
            <a:ext cx="9333121" cy="3481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711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FCCA1-BA9B-2961-7E0E-B97C53A56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17284D-97FE-84BA-7514-917DE5C9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Classe vs (instance) d’objet</a:t>
            </a:r>
          </a:p>
        </p:txBody>
      </p:sp>
      <p:pic>
        <p:nvPicPr>
          <p:cNvPr id="4" name="Picture 2" descr="What is a class?">
            <a:extLst>
              <a:ext uri="{FF2B5EF4-FFF2-40B4-BE49-F238E27FC236}">
                <a16:creationId xmlns:a16="http://schemas.microsoft.com/office/drawing/2014/main" id="{0FB3C930-F435-C6FA-D914-D96337020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968" y="1721071"/>
            <a:ext cx="5926064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887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FCCA1-BA9B-2961-7E0E-B97C53A56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17284D-97FE-84BA-7514-917DE5C9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Héritage</a:t>
            </a:r>
          </a:p>
        </p:txBody>
      </p:sp>
      <p:pic>
        <p:nvPicPr>
          <p:cNvPr id="2050" name="Picture 2" descr="Généralisation spécialisation ou héritage">
            <a:extLst>
              <a:ext uri="{FF2B5EF4-FFF2-40B4-BE49-F238E27FC236}">
                <a16:creationId xmlns:a16="http://schemas.microsoft.com/office/drawing/2014/main" id="{2159CD01-9A7F-BB6B-4BF9-3514FF771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254" y="1916832"/>
            <a:ext cx="8063492" cy="385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875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FCCA1-BA9B-2961-7E0E-B97C53A56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17284D-97FE-84BA-7514-917DE5C9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Polymorphisme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57B59F-E585-A7F1-3869-031A0149F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484784"/>
            <a:ext cx="5198932" cy="52452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389381-2EDD-48A6-8730-CE068D510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525" y="1833902"/>
            <a:ext cx="7222047" cy="46957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420F57-BC49-9A45-1252-E7589D492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75" y="1662575"/>
            <a:ext cx="893445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7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FCCA1-BA9B-2961-7E0E-B97C53A56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17284D-97FE-84BA-7514-917DE5C9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Abstraction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BC198-C355-92CF-4FAC-A4668B970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1633491"/>
            <a:ext cx="8534384" cy="472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51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FCCA1-BA9B-2961-7E0E-B97C53A56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17284D-97FE-84BA-7514-917DE5C9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Classe abstraite vs interface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4F5659-CB83-770C-3A2B-B4822F0795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900"/>
          <a:stretch/>
        </p:blipFill>
        <p:spPr>
          <a:xfrm>
            <a:off x="551384" y="1916832"/>
            <a:ext cx="5429588" cy="35730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E9FF89-EF06-8C45-1C1F-F464AAEE5E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469"/>
          <a:stretch/>
        </p:blipFill>
        <p:spPr>
          <a:xfrm>
            <a:off x="6211028" y="2073505"/>
            <a:ext cx="5429588" cy="325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59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FCCA1-BA9B-2961-7E0E-B97C53A56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17284D-97FE-84BA-7514-917DE5C9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« Access </a:t>
            </a:r>
            <a:r>
              <a:rPr lang="fr-BE" dirty="0" err="1"/>
              <a:t>modifiers</a:t>
            </a:r>
            <a:r>
              <a:rPr lang="fr-BE" dirty="0"/>
              <a:t> 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45B59-90BE-151B-B455-61D2F4C4F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79" y="2201819"/>
            <a:ext cx="11013642" cy="302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44579"/>
      </p:ext>
    </p:extLst>
  </p:cSld>
  <p:clrMapOvr>
    <a:masterClrMapping/>
  </p:clrMapOvr>
</p:sld>
</file>

<file path=ppt/theme/theme1.xml><?xml version="1.0" encoding="utf-8"?>
<a:theme xmlns:a="http://schemas.openxmlformats.org/drawingml/2006/main" name="Kula Presentation Template">
  <a:themeElements>
    <a:clrScheme name="Kula Color 1">
      <a:dk1>
        <a:srgbClr val="000000"/>
      </a:dk1>
      <a:lt1>
        <a:srgbClr val="FFFFFF"/>
      </a:lt1>
      <a:dk2>
        <a:srgbClr val="000000"/>
      </a:dk2>
      <a:lt2>
        <a:srgbClr val="FEFCFF"/>
      </a:lt2>
      <a:accent1>
        <a:srgbClr val="1D46F3"/>
      </a:accent1>
      <a:accent2>
        <a:srgbClr val="FE5757"/>
      </a:accent2>
      <a:accent3>
        <a:srgbClr val="FE0061"/>
      </a:accent3>
      <a:accent4>
        <a:srgbClr val="A905B7"/>
      </a:accent4>
      <a:accent5>
        <a:srgbClr val="7030BD"/>
      </a:accent5>
      <a:accent6>
        <a:srgbClr val="3C4EBC"/>
      </a:accent6>
      <a:hlink>
        <a:srgbClr val="5352F5"/>
      </a:hlink>
      <a:folHlink>
        <a:srgbClr val="BFBFBF"/>
      </a:folHlink>
    </a:clrScheme>
    <a:fontScheme name="Montserrat_OpenSans">
      <a:majorFont>
        <a:latin typeface="Montserrat-Bold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&amp;D-Powerpoint Template_16x9" id="{D6003E70-2833-4847-828A-A182BBF6C8FF}" vid="{85D7DE89-D8E2-D743-952C-ED1FA0F184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1046</TotalTime>
  <Words>336</Words>
  <Application>Microsoft Office PowerPoint</Application>
  <PresentationFormat>Widescreen</PresentationFormat>
  <Paragraphs>72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Montserrat-Bold</vt:lpstr>
      <vt:lpstr>Open Sans</vt:lpstr>
      <vt:lpstr>Playfair Display</vt:lpstr>
      <vt:lpstr>Kula Presentation Template</vt:lpstr>
      <vt:lpstr>PowerPoint Presentation</vt:lpstr>
      <vt:lpstr>PowerPoint Presentation</vt:lpstr>
      <vt:lpstr>Tour de table</vt:lpstr>
      <vt:lpstr>Contenu du cours</vt:lpstr>
      <vt:lpstr>PowerPoint Presentation</vt:lpstr>
      <vt:lpstr>PowerPoint Presentation</vt:lpstr>
      <vt:lpstr>PowerPoint Presentation</vt:lpstr>
      <vt:lpstr>PowerPoint Presentation</vt:lpstr>
      <vt:lpstr>Chapitre n°1: programmation orientée objet </vt:lpstr>
      <vt:lpstr>PowerPoint Presentation</vt:lpstr>
      <vt:lpstr>Définition</vt:lpstr>
      <vt:lpstr>PowerPoint Presentation</vt:lpstr>
      <vt:lpstr>PowerPoint Presentation</vt:lpstr>
      <vt:lpstr>PowerPoint Presentation</vt:lpstr>
      <vt:lpstr>Concepts de base de la POO</vt:lpstr>
      <vt:lpstr>Encapsulation</vt:lpstr>
      <vt:lpstr>Classe vs (instance) d’objet</vt:lpstr>
      <vt:lpstr>Héritage</vt:lpstr>
      <vt:lpstr>Polymorphisme</vt:lpstr>
      <vt:lpstr>Abstraction</vt:lpstr>
      <vt:lpstr>Classe abstraite vs interface</vt:lpstr>
      <vt:lpstr>« Access modifiers »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ShapeSlide</dc:creator>
  <cp:keywords/>
  <dc:description/>
  <cp:lastModifiedBy>Ludwig Lebrun</cp:lastModifiedBy>
  <cp:revision>114</cp:revision>
  <dcterms:created xsi:type="dcterms:W3CDTF">2017-07-17T01:01:38Z</dcterms:created>
  <dcterms:modified xsi:type="dcterms:W3CDTF">2025-10-08T16:17:25Z</dcterms:modified>
  <cp:category/>
</cp:coreProperties>
</file>